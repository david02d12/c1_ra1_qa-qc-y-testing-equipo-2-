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71" r:id="rId3"/>
    <p:sldId id="272" r:id="rId4"/>
    <p:sldId id="274" r:id="rId5"/>
    <p:sldId id="265" r:id="rId6"/>
  </p:sldIdLst>
  <p:sldSz cx="12192000" cy="6858000"/>
  <p:notesSz cx="6858000" cy="9144000"/>
  <p:embeddedFontLst>
    <p:embeddedFont>
      <p:font typeface="Work Sans" pitchFamily="2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hbRgNS3AWtmyQQ4gG/RfFE+l7X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23" Type="http://customschemas.google.com/relationships/presentationmetadata" Target="metadata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96" name="Google Shape;9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a de título">
  <p:cSld name="1_Diapositiva de títul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2" descr="Interfaz de usuario gráfica, Texto, Aplicación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8" name="Google Shape;78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 txBox="1"/>
          <p:nvPr/>
        </p:nvSpPr>
        <p:spPr>
          <a:xfrm>
            <a:off x="3036277" y="114081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Work Sans"/>
              <a:buNone/>
            </a:pPr>
            <a:r>
              <a:rPr lang="es-CO" sz="4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QA, QC  Y TESTING </a:t>
            </a:r>
            <a:br>
              <a:rPr lang="es-CO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4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F27661F-0F95-3AD8-C4F6-0249F3F5CA75}"/>
              </a:ext>
            </a:extLst>
          </p:cNvPr>
          <p:cNvSpPr txBox="1"/>
          <p:nvPr/>
        </p:nvSpPr>
        <p:spPr>
          <a:xfrm>
            <a:off x="4067908" y="1740061"/>
            <a:ext cx="23446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Calidad del software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506D061-CA00-1D31-ABBA-AA0D903851EE}"/>
              </a:ext>
            </a:extLst>
          </p:cNvPr>
          <p:cNvCxnSpPr>
            <a:cxnSpLocks/>
          </p:cNvCxnSpPr>
          <p:nvPr/>
        </p:nvCxnSpPr>
        <p:spPr>
          <a:xfrm>
            <a:off x="3405553" y="1712315"/>
            <a:ext cx="33879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A501ABF-F10D-8418-0BC3-CA933D6793F1}"/>
              </a:ext>
            </a:extLst>
          </p:cNvPr>
          <p:cNvSpPr txBox="1"/>
          <p:nvPr/>
        </p:nvSpPr>
        <p:spPr>
          <a:xfrm>
            <a:off x="2155212" y="241346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dirty="0"/>
              <a:t>Conceptos de pruebas en relación con funcionamiento y calidad del sistema 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78B89387-DD23-BCD9-1711-5FCBBE75E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2907" y="3429000"/>
            <a:ext cx="4556610" cy="2351799"/>
          </a:xfrm>
          <a:prstGeom prst="rect">
            <a:avLst/>
          </a:prstGeom>
        </p:spPr>
      </p:pic>
      <p:sp>
        <p:nvSpPr>
          <p:cNvPr id="19" name="Signo menos 18">
            <a:extLst>
              <a:ext uri="{FF2B5EF4-FFF2-40B4-BE49-F238E27FC236}">
                <a16:creationId xmlns:a16="http://schemas.microsoft.com/office/drawing/2014/main" id="{D6221B46-19D6-9A8A-52B6-04B36BCD4227}"/>
              </a:ext>
            </a:extLst>
          </p:cNvPr>
          <p:cNvSpPr/>
          <p:nvPr/>
        </p:nvSpPr>
        <p:spPr>
          <a:xfrm>
            <a:off x="-909414" y="-59335"/>
            <a:ext cx="12869765" cy="914400"/>
          </a:xfrm>
          <a:prstGeom prst="mathMinus">
            <a:avLst>
              <a:gd name="adj1" fmla="val 10699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85EFB31-B104-EDDB-8E99-A97358F79DD1}"/>
              </a:ext>
            </a:extLst>
          </p:cNvPr>
          <p:cNvSpPr txBox="1"/>
          <p:nvPr/>
        </p:nvSpPr>
        <p:spPr>
          <a:xfrm>
            <a:off x="605379" y="767793"/>
            <a:ext cx="84640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b="1" dirty="0"/>
              <a:t>Aseguramiento de la calidad / QA</a:t>
            </a:r>
            <a:endParaRPr lang="es-ES" dirty="0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B18F0474-9718-79E7-1361-D6715AC62561}"/>
              </a:ext>
            </a:extLst>
          </p:cNvPr>
          <p:cNvCxnSpPr>
            <a:cxnSpLocks/>
          </p:cNvCxnSpPr>
          <p:nvPr/>
        </p:nvCxnSpPr>
        <p:spPr>
          <a:xfrm>
            <a:off x="181707" y="176592"/>
            <a:ext cx="11764108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AA8FE07A-8316-AABC-D89B-C19B3C1D8EDE}"/>
              </a:ext>
            </a:extLst>
          </p:cNvPr>
          <p:cNvCxnSpPr>
            <a:cxnSpLocks/>
          </p:cNvCxnSpPr>
          <p:nvPr/>
        </p:nvCxnSpPr>
        <p:spPr>
          <a:xfrm>
            <a:off x="181707" y="176592"/>
            <a:ext cx="0" cy="644694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DB46FBC-059D-0994-86B2-0D388B004F5C}"/>
              </a:ext>
            </a:extLst>
          </p:cNvPr>
          <p:cNvCxnSpPr>
            <a:cxnSpLocks/>
          </p:cNvCxnSpPr>
          <p:nvPr/>
        </p:nvCxnSpPr>
        <p:spPr>
          <a:xfrm>
            <a:off x="181707" y="6623538"/>
            <a:ext cx="11764108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8E7FC19A-F827-D771-1922-0033609C2D06}"/>
              </a:ext>
            </a:extLst>
          </p:cNvPr>
          <p:cNvCxnSpPr>
            <a:cxnSpLocks/>
          </p:cNvCxnSpPr>
          <p:nvPr/>
        </p:nvCxnSpPr>
        <p:spPr>
          <a:xfrm flipV="1">
            <a:off x="11945815" y="176592"/>
            <a:ext cx="0" cy="644694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BE4D049-689A-BDD8-67C7-BC9CC8A01E06}"/>
              </a:ext>
            </a:extLst>
          </p:cNvPr>
          <p:cNvSpPr txBox="1"/>
          <p:nvPr/>
        </p:nvSpPr>
        <p:spPr>
          <a:xfrm>
            <a:off x="605379" y="1762079"/>
            <a:ext cx="846406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/>
              <a:t>Esta es la base de como se construye el proceso de prevención de errores en la calidad y funcionamiento del sistema.</a:t>
            </a:r>
          </a:p>
          <a:p>
            <a:endParaRPr lang="es-ES" sz="2000" dirty="0"/>
          </a:p>
          <a:p>
            <a:endParaRPr lang="es-ES" sz="2000" dirty="0"/>
          </a:p>
          <a:p>
            <a:r>
              <a:rPr lang="es-ES" sz="2000" dirty="0"/>
              <a:t>Aquí se planean estrategias para lograr prevenir errores, se establecen diferentes reglas, metodologías y herramientas con las cuales logran prevenir y mejorar la calidad.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78EC0F61-6063-0FAC-B823-A1EE8938D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0739" y="4090369"/>
            <a:ext cx="4293191" cy="224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25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F8B9E-728A-4F69-1B59-DE8EE3A5D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3D57130-AC5A-8882-A3C9-0704B277488C}"/>
              </a:ext>
            </a:extLst>
          </p:cNvPr>
          <p:cNvSpPr txBox="1"/>
          <p:nvPr/>
        </p:nvSpPr>
        <p:spPr>
          <a:xfrm>
            <a:off x="605379" y="776052"/>
            <a:ext cx="105709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b="1" dirty="0"/>
              <a:t>Entorno de pruebas de software / Testing</a:t>
            </a:r>
            <a:endParaRPr lang="es-ES" dirty="0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36C2D31D-274C-0867-2BA0-45FE22376394}"/>
              </a:ext>
            </a:extLst>
          </p:cNvPr>
          <p:cNvCxnSpPr>
            <a:cxnSpLocks/>
          </p:cNvCxnSpPr>
          <p:nvPr/>
        </p:nvCxnSpPr>
        <p:spPr>
          <a:xfrm>
            <a:off x="181707" y="176592"/>
            <a:ext cx="11764108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73D8F97-463D-0A8F-DD8D-E76CCB6DC725}"/>
              </a:ext>
            </a:extLst>
          </p:cNvPr>
          <p:cNvCxnSpPr>
            <a:cxnSpLocks/>
          </p:cNvCxnSpPr>
          <p:nvPr/>
        </p:nvCxnSpPr>
        <p:spPr>
          <a:xfrm>
            <a:off x="181707" y="176592"/>
            <a:ext cx="0" cy="644694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E983B3A-65B5-08A6-2020-F222114D354A}"/>
              </a:ext>
            </a:extLst>
          </p:cNvPr>
          <p:cNvCxnSpPr>
            <a:cxnSpLocks/>
          </p:cNvCxnSpPr>
          <p:nvPr/>
        </p:nvCxnSpPr>
        <p:spPr>
          <a:xfrm>
            <a:off x="181707" y="6623538"/>
            <a:ext cx="11764108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5D089053-E583-2236-5042-7E8170168DA0}"/>
              </a:ext>
            </a:extLst>
          </p:cNvPr>
          <p:cNvCxnSpPr>
            <a:cxnSpLocks/>
          </p:cNvCxnSpPr>
          <p:nvPr/>
        </p:nvCxnSpPr>
        <p:spPr>
          <a:xfrm flipV="1">
            <a:off x="11945815" y="176592"/>
            <a:ext cx="0" cy="644694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63B646D-782F-6E92-C532-8F3C790D6A5D}"/>
              </a:ext>
            </a:extLst>
          </p:cNvPr>
          <p:cNvSpPr txBox="1"/>
          <p:nvPr/>
        </p:nvSpPr>
        <p:spPr>
          <a:xfrm>
            <a:off x="605379" y="1762079"/>
            <a:ext cx="846406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/>
              <a:t>Aquí se ejecuta el sistema para lograr encontrar defectos, fallos y bugs, errores colados del </a:t>
            </a:r>
            <a:r>
              <a:rPr lang="es-ES" sz="2000" b="1" dirty="0"/>
              <a:t>QA</a:t>
            </a:r>
          </a:p>
          <a:p>
            <a:endParaRPr lang="es-ES" sz="2000" dirty="0"/>
          </a:p>
          <a:p>
            <a:endParaRPr lang="es-ES" sz="2000" dirty="0"/>
          </a:p>
          <a:p>
            <a:r>
              <a:rPr lang="es-ES" sz="2000" dirty="0"/>
              <a:t>Verifica y prueba el funcionamiento y la calidad del sistema mediante pruebas de ejecución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D3DF9B0-606B-201B-ABA6-78C5397E2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893" y="3774831"/>
            <a:ext cx="4693096" cy="2639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264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ECA82-7935-B41E-2A57-F085B4669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DDE3D27-B21C-76E9-B4A7-EEE5F420C1E4}"/>
              </a:ext>
            </a:extLst>
          </p:cNvPr>
          <p:cNvSpPr txBox="1"/>
          <p:nvPr/>
        </p:nvSpPr>
        <p:spPr>
          <a:xfrm>
            <a:off x="605379" y="776052"/>
            <a:ext cx="105709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b="1" dirty="0"/>
              <a:t>Control de calidad / QC</a:t>
            </a:r>
            <a:endParaRPr lang="es-ES" dirty="0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493DE3F3-D70D-3178-F00B-095AD109A01D}"/>
              </a:ext>
            </a:extLst>
          </p:cNvPr>
          <p:cNvCxnSpPr>
            <a:cxnSpLocks/>
          </p:cNvCxnSpPr>
          <p:nvPr/>
        </p:nvCxnSpPr>
        <p:spPr>
          <a:xfrm>
            <a:off x="181707" y="176592"/>
            <a:ext cx="11764108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7742017-03F4-C3B2-6742-1D0354A42A04}"/>
              </a:ext>
            </a:extLst>
          </p:cNvPr>
          <p:cNvCxnSpPr>
            <a:cxnSpLocks/>
          </p:cNvCxnSpPr>
          <p:nvPr/>
        </p:nvCxnSpPr>
        <p:spPr>
          <a:xfrm>
            <a:off x="181707" y="176592"/>
            <a:ext cx="0" cy="644694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364844C-FED8-9697-73AC-F5AD72D0C1F4}"/>
              </a:ext>
            </a:extLst>
          </p:cNvPr>
          <p:cNvCxnSpPr>
            <a:cxnSpLocks/>
          </p:cNvCxnSpPr>
          <p:nvPr/>
        </p:nvCxnSpPr>
        <p:spPr>
          <a:xfrm>
            <a:off x="181707" y="6623538"/>
            <a:ext cx="11764108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36207B99-1F5D-79A5-DF54-CE3135254F3A}"/>
              </a:ext>
            </a:extLst>
          </p:cNvPr>
          <p:cNvCxnSpPr>
            <a:cxnSpLocks/>
          </p:cNvCxnSpPr>
          <p:nvPr/>
        </p:nvCxnSpPr>
        <p:spPr>
          <a:xfrm flipV="1">
            <a:off x="11945815" y="176592"/>
            <a:ext cx="0" cy="644694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0B09B5E-8319-2A5E-4B88-4A742C5F8495}"/>
              </a:ext>
            </a:extLst>
          </p:cNvPr>
          <p:cNvSpPr txBox="1"/>
          <p:nvPr/>
        </p:nvSpPr>
        <p:spPr>
          <a:xfrm>
            <a:off x="605379" y="1762079"/>
            <a:ext cx="846406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/>
              <a:t>Este proceso se enfoca en revisar lo construido, valida criterios y verifica que se cumplan, antes de que llegue ah su cliente.</a:t>
            </a:r>
          </a:p>
          <a:p>
            <a:endParaRPr lang="es-ES" sz="2000" dirty="0"/>
          </a:p>
          <a:p>
            <a:endParaRPr lang="es-ES" sz="2000" dirty="0"/>
          </a:p>
          <a:p>
            <a:r>
              <a:rPr lang="es-ES" sz="2000" b="1" dirty="0"/>
              <a:t>Controla el proceso de reactividad.</a:t>
            </a:r>
          </a:p>
          <a:p>
            <a:endParaRPr lang="es-ES" sz="2000" dirty="0"/>
          </a:p>
          <a:p>
            <a:r>
              <a:rPr lang="es-ES" sz="2000" dirty="0"/>
              <a:t>Es decir, reacciona después de la construcción del producto</a:t>
            </a:r>
          </a:p>
          <a:p>
            <a:r>
              <a:rPr lang="es-ES" sz="2000" dirty="0"/>
              <a:t>dando su veredicto final.</a:t>
            </a:r>
          </a:p>
          <a:p>
            <a:endParaRPr lang="es-ES" sz="20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51703BF-9440-003B-CE21-21AB368D8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2152" y="3623433"/>
            <a:ext cx="2635448" cy="271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839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0" descr="Imagen que contiene Interfaz de usuario gráfica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</Words>
  <Application>Microsoft Office PowerPoint</Application>
  <PresentationFormat>Panorámica</PresentationFormat>
  <Paragraphs>22</Paragraphs>
  <Slides>5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Calibri</vt:lpstr>
      <vt:lpstr>Work Sans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Jorge Enrique Pedraza Sanchez</dc:creator>
  <cp:lastModifiedBy>Duvan Alirio Parra Pinto</cp:lastModifiedBy>
  <cp:revision>1</cp:revision>
  <dcterms:created xsi:type="dcterms:W3CDTF">2020-10-01T23:51:28Z</dcterms:created>
  <dcterms:modified xsi:type="dcterms:W3CDTF">2026-07-21T17:41:04Z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